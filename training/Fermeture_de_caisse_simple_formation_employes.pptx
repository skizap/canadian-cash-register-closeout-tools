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Outfit" charset="-122" pitchFamily="34"/>
      <p:regular r:id="rId15"/>
    </p:embeddedFont>
    <p:embeddedFont>
      <p:font typeface="Inter" charset="-122" pitchFamily="34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812800"/>
            <a:ext cx="660400" cy="660400"/>
          </a:xfrm>
          <a:prstGeom prst="rect">
            <a:avLst/>
          </a:prstGeom>
        </p:spPr>
      </p:pic>
      <p:sp>
        <p:nvSpPr>
          <p:cNvPr id="3" name="cover-text-2"/>
          <p:cNvSpPr/>
          <p:nvPr/>
        </p:nvSpPr>
        <p:spPr>
          <a:xfrm>
            <a:off x="762000" y="1955800"/>
            <a:ext cx="104140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fr-CA" altLang="en-US" sz="6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Fermeture de caisse simple</a:t>
            </a:r>
            <a:endParaRPr lang="en-US" sz="6200" dirty="0"/>
          </a:p>
        </p:txBody>
      </p:sp>
      <p:sp>
        <p:nvSpPr>
          <p:cNvPr id="4" name="cover-text-3"/>
          <p:cNvSpPr/>
          <p:nvPr/>
        </p:nvSpPr>
        <p:spPr>
          <a:xfrm>
            <a:off x="812800" y="3937000"/>
            <a:ext cx="863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fr-CA" altLang="en-US" sz="2600" dirty="0">
                <a:solidFill>
                  <a:srgbClr val="E6F0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rapide pour les employés</a:t>
            </a:r>
            <a:endParaRPr lang="en-US" sz="2600" dirty="0"/>
          </a:p>
        </p:txBody>
      </p:sp>
      <p:sp>
        <p:nvSpPr>
          <p:cNvPr id="5" name="cover-shape-4"/>
          <p:cNvSpPr/>
          <p:nvPr/>
        </p:nvSpPr>
        <p:spPr>
          <a:xfrm>
            <a:off x="762000" y="5816600"/>
            <a:ext cx="9080500" cy="1333500"/>
          </a:xfrm>
          <a:prstGeom prst="roundRect">
            <a:avLst>
              <a:gd name="adj" fmla="val 17143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cover-text-5"/>
          <p:cNvSpPr/>
          <p:nvPr/>
        </p:nvSpPr>
        <p:spPr>
          <a:xfrm>
            <a:off x="1117600" y="6083300"/>
            <a:ext cx="825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fr-CA" alt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:</a:t>
            </a:r>
            <a:r>
              <a:rPr lang="fr-CA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compter l’argent, laisser le bon fond de caisse et suivre le résultat affiché.</a:t>
            </a:r>
            <a:endParaRPr lang="en-US" sz="2400" dirty="0"/>
          </a:p>
        </p:txBody>
      </p:sp>
      <p:sp>
        <p:nvSpPr>
          <p:cNvPr id="7" name="cover-shape-6"/>
          <p:cNvSpPr/>
          <p:nvPr/>
        </p:nvSpPr>
        <p:spPr>
          <a:xfrm>
            <a:off x="11684000" y="1549400"/>
            <a:ext cx="3429000" cy="3429000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/>
        </p:spPr>
      </p:sp>
      <p:sp>
        <p:nvSpPr>
          <p:cNvPr id="8" name="cover-text-7"/>
          <p:cNvSpPr/>
          <p:nvPr/>
        </p:nvSpPr>
        <p:spPr>
          <a:xfrm>
            <a:off x="11684000" y="215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5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250</a:t>
            </a:r>
            <a:endParaRPr lang="en-US" sz="5000" dirty="0"/>
          </a:p>
        </p:txBody>
      </p:sp>
      <p:sp>
        <p:nvSpPr>
          <p:cNvPr id="9" name="cover-text-8"/>
          <p:cNvSpPr/>
          <p:nvPr/>
        </p:nvSpPr>
        <p:spPr>
          <a:xfrm>
            <a:off x="11684000" y="31496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fond de caisse à laisser</a:t>
            </a:r>
            <a:endParaRPr lang="en-US" sz="2000" dirty="0"/>
          </a:p>
        </p:txBody>
      </p:sp>
      <p:sp>
        <p:nvSpPr>
          <p:cNvPr id="10" name="cover-text-9"/>
          <p:cNvSpPr/>
          <p:nvPr/>
        </p:nvSpPr>
        <p:spPr>
          <a:xfrm>
            <a:off x="762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E6F0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Fermeture de caisse • Formation rapide</a:t>
            </a:r>
            <a:endParaRPr lang="en-US" sz="1400" dirty="0"/>
          </a:p>
        </p:txBody>
      </p:sp>
      <p:sp>
        <p:nvSpPr>
          <p:cNvPr id="11" name="cover-text-10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E6F0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ive-text-1"/>
          <p:cNvSpPr/>
          <p:nvPr/>
        </p:nvSpPr>
        <p:spPr>
          <a:xfrm>
            <a:off x="762000" y="6858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4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L’objectif en une phrase</a:t>
            </a:r>
            <a:endParaRPr lang="en-US" sz="4000" dirty="0"/>
          </a:p>
        </p:txBody>
      </p:sp>
      <p:sp>
        <p:nvSpPr>
          <p:cNvPr id="3" name="objective-text-2"/>
          <p:cNvSpPr/>
          <p:nvPr/>
        </p:nvSpPr>
        <p:spPr>
          <a:xfrm>
            <a:off x="762000" y="1676400"/>
            <a:ext cx="1320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2"/>
              </a:lnSpc>
              <a:buNone/>
            </a:pPr>
            <a:r>
              <a:rPr lang="fr-CA" altLang="en-US" sz="46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Compter l’argent. Laisser 250,00 $ CA. Ajuster la différence.</a:t>
            </a:r>
            <a:endParaRPr lang="en-US" sz="4600" dirty="0"/>
          </a:p>
        </p:txBody>
      </p:sp>
      <p:sp>
        <p:nvSpPr>
          <p:cNvPr id="4" name="objective-shape-3"/>
          <p:cNvSpPr/>
          <p:nvPr/>
        </p:nvSpPr>
        <p:spPr>
          <a:xfrm>
            <a:off x="762000" y="3810000"/>
            <a:ext cx="3937000" cy="2667000"/>
          </a:xfrm>
          <a:prstGeom prst="roundRect">
            <a:avLst>
              <a:gd name="adj" fmla="val 8571"/>
            </a:avLst>
          </a:prstGeom>
          <a:solidFill>
            <a:srgbClr val="FDE047"/>
          </a:solidFill>
          <a:ln/>
        </p:spPr>
      </p:sp>
      <p:pic>
        <p:nvPicPr>
          <p:cNvPr id="5" name="objective-icon-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4216400"/>
            <a:ext cx="558800" cy="558800"/>
          </a:xfrm>
          <a:prstGeom prst="rect">
            <a:avLst/>
          </a:prstGeom>
        </p:spPr>
      </p:pic>
      <p:sp>
        <p:nvSpPr>
          <p:cNvPr id="6" name="objective-text-5"/>
          <p:cNvSpPr/>
          <p:nvPr/>
        </p:nvSpPr>
        <p:spPr>
          <a:xfrm>
            <a:off x="1168400" y="5003800"/>
            <a:ext cx="298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6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Compter</a:t>
            </a:r>
            <a:endParaRPr lang="en-US" sz="2600" dirty="0"/>
          </a:p>
        </p:txBody>
      </p:sp>
      <p:sp>
        <p:nvSpPr>
          <p:cNvPr id="7" name="objective-text-6"/>
          <p:cNvSpPr/>
          <p:nvPr/>
        </p:nvSpPr>
        <p:spPr>
          <a:xfrm>
            <a:off x="1168400" y="5588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billet et chaque pièce.</a:t>
            </a:r>
            <a:endParaRPr lang="en-US" sz="2000" dirty="0"/>
          </a:p>
        </p:txBody>
      </p:sp>
      <p:pic>
        <p:nvPicPr>
          <p:cNvPr id="8" name="objective-icon-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0" y="4787900"/>
            <a:ext cx="584200" cy="584200"/>
          </a:xfrm>
          <a:prstGeom prst="rect">
            <a:avLst/>
          </a:prstGeom>
        </p:spPr>
      </p:pic>
      <p:sp>
        <p:nvSpPr>
          <p:cNvPr id="9" name="objective-shape-8"/>
          <p:cNvSpPr/>
          <p:nvPr/>
        </p:nvSpPr>
        <p:spPr>
          <a:xfrm>
            <a:off x="5905500" y="3810000"/>
            <a:ext cx="3937000" cy="2667000"/>
          </a:xfrm>
          <a:prstGeom prst="roundRect">
            <a:avLst>
              <a:gd name="adj" fmla="val 8571"/>
            </a:avLst>
          </a:prstGeom>
          <a:solidFill>
            <a:srgbClr val="E6F0FA"/>
          </a:solidFill>
          <a:ln/>
        </p:spPr>
      </p:sp>
      <p:pic>
        <p:nvPicPr>
          <p:cNvPr id="10" name="objective-icon-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4216400"/>
            <a:ext cx="558800" cy="558800"/>
          </a:xfrm>
          <a:prstGeom prst="rect">
            <a:avLst/>
          </a:prstGeom>
        </p:spPr>
      </p:pic>
      <p:sp>
        <p:nvSpPr>
          <p:cNvPr id="11" name="objective-text-10"/>
          <p:cNvSpPr/>
          <p:nvPr/>
        </p:nvSpPr>
        <p:spPr>
          <a:xfrm>
            <a:off x="6311900" y="5003800"/>
            <a:ext cx="298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6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Laisser</a:t>
            </a:r>
            <a:endParaRPr lang="en-US" sz="2600" dirty="0"/>
          </a:p>
        </p:txBody>
      </p:sp>
      <p:sp>
        <p:nvSpPr>
          <p:cNvPr id="12" name="objective-text-11"/>
          <p:cNvSpPr/>
          <p:nvPr/>
        </p:nvSpPr>
        <p:spPr>
          <a:xfrm>
            <a:off x="6311900" y="5588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fond de caisse configuré.</a:t>
            </a:r>
            <a:endParaRPr lang="en-US" sz="2000" dirty="0"/>
          </a:p>
        </p:txBody>
      </p:sp>
      <p:pic>
        <p:nvPicPr>
          <p:cNvPr id="13" name="objective-icon-1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900" y="4787900"/>
            <a:ext cx="584200" cy="584200"/>
          </a:xfrm>
          <a:prstGeom prst="rect">
            <a:avLst/>
          </a:prstGeom>
        </p:spPr>
      </p:pic>
      <p:sp>
        <p:nvSpPr>
          <p:cNvPr id="14" name="objective-shape-13"/>
          <p:cNvSpPr/>
          <p:nvPr/>
        </p:nvSpPr>
        <p:spPr>
          <a:xfrm>
            <a:off x="11049000" y="3810000"/>
            <a:ext cx="4445000" cy="26670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25400">
            <a:solidFill>
              <a:srgbClr val="E6F0FA"/>
            </a:solidFill>
            <a:prstDash val="solid"/>
          </a:ln>
        </p:spPr>
      </p:sp>
      <p:pic>
        <p:nvPicPr>
          <p:cNvPr id="15" name="objective-icon-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5400" y="4216400"/>
            <a:ext cx="558800" cy="558800"/>
          </a:xfrm>
          <a:prstGeom prst="rect">
            <a:avLst/>
          </a:prstGeom>
        </p:spPr>
      </p:pic>
      <p:sp>
        <p:nvSpPr>
          <p:cNvPr id="16" name="objective-text-15"/>
          <p:cNvSpPr/>
          <p:nvPr/>
        </p:nvSpPr>
        <p:spPr>
          <a:xfrm>
            <a:off x="11455400" y="5003800"/>
            <a:ext cx="342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6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Ajuster</a:t>
            </a:r>
            <a:endParaRPr lang="en-US" sz="2600" dirty="0"/>
          </a:p>
        </p:txBody>
      </p:sp>
      <p:sp>
        <p:nvSpPr>
          <p:cNvPr id="17" name="objective-text-16"/>
          <p:cNvSpPr/>
          <p:nvPr/>
        </p:nvSpPr>
        <p:spPr>
          <a:xfrm>
            <a:off x="11455400" y="5588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Déposer ou prendre le montant indiqué.</a:t>
            </a:r>
            <a:endParaRPr lang="en-US" sz="2000" dirty="0"/>
          </a:p>
        </p:txBody>
      </p:sp>
      <p:sp>
        <p:nvSpPr>
          <p:cNvPr id="18" name="objective-shape-17"/>
          <p:cNvSpPr/>
          <p:nvPr/>
        </p:nvSpPr>
        <p:spPr>
          <a:xfrm>
            <a:off x="762000" y="7086600"/>
            <a:ext cx="14732000" cy="787400"/>
          </a:xfrm>
          <a:prstGeom prst="roundRect">
            <a:avLst>
              <a:gd name="adj" fmla="val 19355"/>
            </a:avLst>
          </a:prstGeom>
          <a:solidFill>
            <a:srgbClr val="E6F0FA"/>
          </a:solidFill>
          <a:ln/>
        </p:spPr>
      </p:sp>
      <p:sp>
        <p:nvSpPr>
          <p:cNvPr id="19" name="objective-text-18"/>
          <p:cNvSpPr/>
          <p:nvPr/>
        </p:nvSpPr>
        <p:spPr>
          <a:xfrm>
            <a:off x="1092200" y="73025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CA" altLang="en-US" sz="1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montant à laisser est déjà inscrit dans la feuille. Modifiez-le seulement si un gérant vous le demande.</a:t>
            </a:r>
            <a:endParaRPr lang="en-US" sz="1900" dirty="0"/>
          </a:p>
        </p:txBody>
      </p:sp>
      <p:sp>
        <p:nvSpPr>
          <p:cNvPr id="20" name="objective-text-19"/>
          <p:cNvSpPr/>
          <p:nvPr/>
        </p:nvSpPr>
        <p:spPr>
          <a:xfrm>
            <a:off x="762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Fermeture de caisse • Formation rapide</a:t>
            </a:r>
            <a:endParaRPr lang="en-US" sz="1400" dirty="0"/>
          </a:p>
        </p:txBody>
      </p:sp>
      <p:sp>
        <p:nvSpPr>
          <p:cNvPr id="21" name="objective-text-20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_start-text-1"/>
          <p:cNvSpPr/>
          <p:nvPr/>
        </p:nvSpPr>
        <p:spPr>
          <a:xfrm>
            <a:off x="762000" y="6858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4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Avant de commencer</a:t>
            </a:r>
            <a:endParaRPr lang="en-US" sz="4000" dirty="0"/>
          </a:p>
        </p:txBody>
      </p:sp>
      <p:sp>
        <p:nvSpPr>
          <p:cNvPr id="3" name="before_start-text-2"/>
          <p:cNvSpPr/>
          <p:nvPr/>
        </p:nvSpPr>
        <p:spPr>
          <a:xfrm>
            <a:off x="762000" y="1524000"/>
            <a:ext cx="1092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Préparez une fermeture calme, complète et facile à vérifier.</a:t>
            </a:r>
            <a:endParaRPr lang="en-US" sz="2300" dirty="0"/>
          </a:p>
        </p:txBody>
      </p:sp>
      <p:sp>
        <p:nvSpPr>
          <p:cNvPr id="4" name="before_start-text-3"/>
          <p:cNvSpPr/>
          <p:nvPr/>
        </p:nvSpPr>
        <p:spPr>
          <a:xfrm>
            <a:off x="762000" y="2413000"/>
            <a:ext cx="152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7800" dirty="0">
                <a:solidFill>
                  <a:srgbClr val="E6F0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00</a:t>
            </a:r>
            <a:endParaRPr lang="en-US" sz="7800" dirty="0"/>
          </a:p>
        </p:txBody>
      </p:sp>
      <p:sp>
        <p:nvSpPr>
          <p:cNvPr id="5" name="before_start-shape-4"/>
          <p:cNvSpPr/>
          <p:nvPr/>
        </p:nvSpPr>
        <p:spPr>
          <a:xfrm>
            <a:off x="2286000" y="2413000"/>
            <a:ext cx="6159500" cy="4191000"/>
          </a:xfrm>
          <a:prstGeom prst="roundRect">
            <a:avLst>
              <a:gd name="adj" fmla="val 5455"/>
            </a:avLst>
          </a:prstGeom>
          <a:solidFill>
            <a:srgbClr val="E6F0FA"/>
          </a:solidFill>
          <a:ln/>
        </p:spPr>
      </p:sp>
      <p:pic>
        <p:nvPicPr>
          <p:cNvPr id="6" name="before_start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800" y="2844800"/>
            <a:ext cx="609600" cy="609600"/>
          </a:xfrm>
          <a:prstGeom prst="rect">
            <a:avLst/>
          </a:prstGeom>
        </p:spPr>
      </p:pic>
      <p:sp>
        <p:nvSpPr>
          <p:cNvPr id="7" name="before_start-text-6"/>
          <p:cNvSpPr/>
          <p:nvPr/>
        </p:nvSpPr>
        <p:spPr>
          <a:xfrm>
            <a:off x="2717800" y="365760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8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Préparez</a:t>
            </a:r>
            <a:endParaRPr lang="en-US" sz="2800" dirty="0"/>
          </a:p>
        </p:txBody>
      </p:sp>
      <p:sp>
        <p:nvSpPr>
          <p:cNvPr id="8" name="before_start-text-7"/>
          <p:cNvSpPr/>
          <p:nvPr/>
        </p:nvSpPr>
        <p:spPr>
          <a:xfrm>
            <a:off x="2717800" y="4368800"/>
            <a:ext cx="495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3375" indent="-333375">
              <a:lnSpc>
                <a:spcPts val="2835"/>
              </a:lnSpc>
              <a:spcBef>
                <a:spcPts val="10"/>
              </a:spcBef>
              <a:buSzPct val="100000"/>
              <a:buChar char="•"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Ouvrez la feuille « Fermeture simple ».</a:t>
            </a:r>
            <a:endParaRPr lang="en-US" sz="2100" dirty="0"/>
          </a:p>
          <a:p>
            <a:pPr algn="l" marL="333375" indent="-333375">
              <a:lnSpc>
                <a:spcPts val="2835"/>
              </a:lnSpc>
              <a:spcBef>
                <a:spcPts val="10"/>
              </a:spcBef>
              <a:buSzPct val="100000"/>
              <a:buChar char="•"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Comptez le tiroir au moment prévu par le magasin.</a:t>
            </a:r>
            <a:endParaRPr lang="en-US" sz="2100" dirty="0"/>
          </a:p>
          <a:p>
            <a:pPr algn="l" marL="333375" indent="-333375">
              <a:lnSpc>
                <a:spcPts val="2835"/>
              </a:lnSpc>
              <a:spcBef>
                <a:spcPts val="10"/>
              </a:spcBef>
              <a:buSzPct val="100000"/>
              <a:buChar char="•"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Suivez la procédure interne pour le coffre-fort.</a:t>
            </a:r>
            <a:endParaRPr lang="en-US" sz="2100" dirty="0"/>
          </a:p>
        </p:txBody>
      </p:sp>
      <p:sp>
        <p:nvSpPr>
          <p:cNvPr id="9" name="before_start-shape-8"/>
          <p:cNvSpPr/>
          <p:nvPr/>
        </p:nvSpPr>
        <p:spPr>
          <a:xfrm>
            <a:off x="9080500" y="2413000"/>
            <a:ext cx="6413500" cy="41910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25400">
            <a:solidFill>
              <a:srgbClr val="E6F0FA"/>
            </a:solidFill>
            <a:prstDash val="solid"/>
          </a:ln>
        </p:spPr>
      </p:sp>
      <p:pic>
        <p:nvPicPr>
          <p:cNvPr id="10" name="before_start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2844800"/>
            <a:ext cx="609600" cy="609600"/>
          </a:xfrm>
          <a:prstGeom prst="rect">
            <a:avLst/>
          </a:prstGeom>
        </p:spPr>
      </p:pic>
      <p:sp>
        <p:nvSpPr>
          <p:cNvPr id="11" name="before_start-text-10"/>
          <p:cNvSpPr/>
          <p:nvPr/>
        </p:nvSpPr>
        <p:spPr>
          <a:xfrm>
            <a:off x="9525000" y="36576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8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Règles de saisie</a:t>
            </a:r>
            <a:endParaRPr lang="en-US" sz="2800" dirty="0"/>
          </a:p>
        </p:txBody>
      </p:sp>
      <p:sp>
        <p:nvSpPr>
          <p:cNvPr id="12" name="before_start-text-11"/>
          <p:cNvSpPr/>
          <p:nvPr/>
        </p:nvSpPr>
        <p:spPr>
          <a:xfrm>
            <a:off x="9525000" y="4368800"/>
            <a:ext cx="514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3375" indent="-333375">
              <a:lnSpc>
                <a:spcPts val="2835"/>
              </a:lnSpc>
              <a:spcBef>
                <a:spcPts val="10"/>
              </a:spcBef>
              <a:buSzPct val="100000"/>
              <a:buChar char="•"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Entrez une quantité sur chaque ligne.</a:t>
            </a:r>
            <a:endParaRPr lang="en-US" sz="2100" dirty="0"/>
          </a:p>
          <a:p>
            <a:pPr algn="l" marL="333375" indent="-333375">
              <a:lnSpc>
                <a:spcPts val="2835"/>
              </a:lnSpc>
              <a:spcBef>
                <a:spcPts val="10"/>
              </a:spcBef>
              <a:buSzPct val="100000"/>
              <a:buChar char="•"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Inscrivez </a:t>
            </a:r>
            <a:r>
              <a:rPr lang="fr-CA" altLang="en-US" sz="2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lorsqu’il n’y en a pas.</a:t>
            </a:r>
            <a:endParaRPr lang="en-US" sz="2100" dirty="0"/>
          </a:p>
          <a:p>
            <a:pPr algn="l" marL="333375" indent="-333375">
              <a:lnSpc>
                <a:spcPts val="2835"/>
              </a:lnSpc>
              <a:spcBef>
                <a:spcPts val="10"/>
              </a:spcBef>
              <a:buSzPct val="100000"/>
              <a:buChar char="•"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comptez pas les pièces de 1 ¢.</a:t>
            </a:r>
            <a:endParaRPr lang="en-US" sz="2100" dirty="0"/>
          </a:p>
        </p:txBody>
      </p:sp>
      <p:sp>
        <p:nvSpPr>
          <p:cNvPr id="13" name="before_start-shape-12"/>
          <p:cNvSpPr/>
          <p:nvPr/>
        </p:nvSpPr>
        <p:spPr>
          <a:xfrm>
            <a:off x="2286000" y="7086600"/>
            <a:ext cx="13208000" cy="787400"/>
          </a:xfrm>
          <a:prstGeom prst="roundRect">
            <a:avLst>
              <a:gd name="adj" fmla="val 19355"/>
            </a:avLst>
          </a:prstGeom>
          <a:solidFill>
            <a:srgbClr val="FDE047"/>
          </a:solidFill>
          <a:ln/>
        </p:spPr>
      </p:sp>
      <p:sp>
        <p:nvSpPr>
          <p:cNvPr id="14" name="before_start-text-13"/>
          <p:cNvSpPr/>
          <p:nvPr/>
        </p:nvSpPr>
        <p:spPr>
          <a:xfrm>
            <a:off x="2641600" y="7302500"/>
            <a:ext cx="1244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CA" altLang="en-US" sz="2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cellules jaunes sont les seules que vous devez remplir pour faire le compte.</a:t>
            </a:r>
            <a:endParaRPr lang="en-US" sz="2000" dirty="0"/>
          </a:p>
        </p:txBody>
      </p:sp>
      <p:sp>
        <p:nvSpPr>
          <p:cNvPr id="15" name="before_start-text-14"/>
          <p:cNvSpPr/>
          <p:nvPr/>
        </p:nvSpPr>
        <p:spPr>
          <a:xfrm>
            <a:off x="762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Fermeture de caisse • Formation rapide</a:t>
            </a:r>
            <a:endParaRPr lang="en-US" sz="1400" dirty="0"/>
          </a:p>
        </p:txBody>
      </p:sp>
      <p:sp>
        <p:nvSpPr>
          <p:cNvPr id="16" name="before_start-text-15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eet_map-text-1"/>
          <p:cNvSpPr/>
          <p:nvPr/>
        </p:nvSpPr>
        <p:spPr>
          <a:xfrm>
            <a:off x="762000" y="6858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4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Repérer la feuille</a:t>
            </a:r>
            <a:endParaRPr lang="en-US" sz="4000" dirty="0"/>
          </a:p>
        </p:txBody>
      </p:sp>
      <p:pic>
        <p:nvPicPr>
          <p:cNvPr id="3" name="worksheet-example" descr="preencoded.png">    </p:cNvPr>
          <p:cNvPicPr>
            <a:picLocks noChangeAspect="1"/>
          </p:cNvPicPr>
          <p:nvPr/>
        </p:nvPicPr>
        <p:blipFill>
          <a:blip r:embed="rId1"/>
          <a:srcRect l="-3868" r="-3868" t="0" b="0"/>
          <a:stretch/>
        </p:blipFill>
        <p:spPr>
          <a:xfrm>
            <a:off x="762000" y="1803400"/>
            <a:ext cx="9207500" cy="6604000"/>
          </a:xfrm>
          <a:prstGeom prst="roundRect">
            <a:avLst>
              <a:gd name="adj" fmla="val 2308"/>
            </a:avLst>
          </a:prstGeom>
          <a:ln w="25400">
            <a:solidFill>
              <a:srgbClr val="E6F0FA"/>
            </a:solidFill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sheet_map-text-3"/>
          <p:cNvSpPr/>
          <p:nvPr/>
        </p:nvSpPr>
        <p:spPr>
          <a:xfrm>
            <a:off x="10515600" y="1879600"/>
            <a:ext cx="990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5600" dirty="0">
                <a:solidFill>
                  <a:srgbClr val="E6F0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sheet_map-shape-4"/>
          <p:cNvSpPr/>
          <p:nvPr/>
        </p:nvSpPr>
        <p:spPr>
          <a:xfrm>
            <a:off x="10515600" y="2794000"/>
            <a:ext cx="4953000" cy="1422400"/>
          </a:xfrm>
          <a:prstGeom prst="roundRect">
            <a:avLst>
              <a:gd name="adj" fmla="val 12500"/>
            </a:avLst>
          </a:prstGeom>
          <a:solidFill>
            <a:srgbClr val="FDE047"/>
          </a:solidFill>
          <a:ln/>
        </p:spPr>
      </p:sp>
      <p:pic>
        <p:nvPicPr>
          <p:cNvPr id="6" name="sheet_map-icon-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0" y="3136900"/>
            <a:ext cx="431800" cy="431800"/>
          </a:xfrm>
          <a:prstGeom prst="rect">
            <a:avLst/>
          </a:prstGeom>
        </p:spPr>
      </p:pic>
      <p:sp>
        <p:nvSpPr>
          <p:cNvPr id="7" name="sheet_map-text-6"/>
          <p:cNvSpPr/>
          <p:nvPr/>
        </p:nvSpPr>
        <p:spPr>
          <a:xfrm>
            <a:off x="11455400" y="3035300"/>
            <a:ext cx="355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2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Jaune = saisir</a:t>
            </a:r>
            <a:endParaRPr lang="en-US" sz="2200" dirty="0"/>
          </a:p>
        </p:txBody>
      </p:sp>
      <p:sp>
        <p:nvSpPr>
          <p:cNvPr id="8" name="sheet_map-text-7"/>
          <p:cNvSpPr/>
          <p:nvPr/>
        </p:nvSpPr>
        <p:spPr>
          <a:xfrm>
            <a:off x="11455400" y="3467100"/>
            <a:ext cx="355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fr-CA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Entrez seulement les quantités.</a:t>
            </a:r>
            <a:endParaRPr lang="en-US" sz="1700" dirty="0"/>
          </a:p>
        </p:txBody>
      </p:sp>
      <p:sp>
        <p:nvSpPr>
          <p:cNvPr id="9" name="sheet_map-shape-8"/>
          <p:cNvSpPr/>
          <p:nvPr/>
        </p:nvSpPr>
        <p:spPr>
          <a:xfrm>
            <a:off x="10515600" y="4508500"/>
            <a:ext cx="4953000" cy="1422400"/>
          </a:xfrm>
          <a:prstGeom prst="roundRect">
            <a:avLst>
              <a:gd name="adj" fmla="val 12500"/>
            </a:avLst>
          </a:prstGeom>
          <a:solidFill>
            <a:srgbClr val="E6F0FA"/>
          </a:solidFill>
          <a:ln/>
        </p:spPr>
      </p:sp>
      <p:pic>
        <p:nvPicPr>
          <p:cNvPr id="10" name="sheet_map-icon-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800" y="4851400"/>
            <a:ext cx="431800" cy="431800"/>
          </a:xfrm>
          <a:prstGeom prst="rect">
            <a:avLst/>
          </a:prstGeom>
        </p:spPr>
      </p:pic>
      <p:sp>
        <p:nvSpPr>
          <p:cNvPr id="11" name="sheet_map-text-10"/>
          <p:cNvSpPr/>
          <p:nvPr/>
        </p:nvSpPr>
        <p:spPr>
          <a:xfrm>
            <a:off x="11455400" y="4749800"/>
            <a:ext cx="355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2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État = vérifier</a:t>
            </a:r>
            <a:endParaRPr lang="en-US" sz="2200" dirty="0"/>
          </a:p>
        </p:txBody>
      </p:sp>
      <p:sp>
        <p:nvSpPr>
          <p:cNvPr id="12" name="sheet_map-text-11"/>
          <p:cNvSpPr/>
          <p:nvPr/>
        </p:nvSpPr>
        <p:spPr>
          <a:xfrm>
            <a:off x="11455400" y="5181600"/>
            <a:ext cx="355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fr-CA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Attendez « COMPTE TERMINÉ ».</a:t>
            </a:r>
            <a:endParaRPr lang="en-US" sz="1700" dirty="0"/>
          </a:p>
        </p:txBody>
      </p:sp>
      <p:sp>
        <p:nvSpPr>
          <p:cNvPr id="13" name="sheet_map-shape-12"/>
          <p:cNvSpPr/>
          <p:nvPr/>
        </p:nvSpPr>
        <p:spPr>
          <a:xfrm>
            <a:off x="10515600" y="6223000"/>
            <a:ext cx="4953000" cy="1651000"/>
          </a:xfrm>
          <a:prstGeom prst="roundRect">
            <a:avLst>
              <a:gd name="adj" fmla="val 10769"/>
            </a:avLst>
          </a:prstGeom>
          <a:solidFill>
            <a:srgbClr val="F8FAFC"/>
          </a:solidFill>
          <a:ln w="25400">
            <a:solidFill>
              <a:srgbClr val="E6F0FA"/>
            </a:solidFill>
            <a:prstDash val="solid"/>
          </a:ln>
        </p:spPr>
      </p:sp>
      <p:pic>
        <p:nvPicPr>
          <p:cNvPr id="14" name="sheet_map-icon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5800" y="6604000"/>
            <a:ext cx="431800" cy="431800"/>
          </a:xfrm>
          <a:prstGeom prst="rect">
            <a:avLst/>
          </a:prstGeom>
        </p:spPr>
      </p:pic>
      <p:sp>
        <p:nvSpPr>
          <p:cNvPr id="15" name="sheet_map-text-14"/>
          <p:cNvSpPr/>
          <p:nvPr/>
        </p:nvSpPr>
        <p:spPr>
          <a:xfrm>
            <a:off x="11455400" y="6489700"/>
            <a:ext cx="355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2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Résultat = agir</a:t>
            </a:r>
            <a:endParaRPr lang="en-US" sz="2200" dirty="0"/>
          </a:p>
        </p:txBody>
      </p:sp>
      <p:sp>
        <p:nvSpPr>
          <p:cNvPr id="16" name="sheet_map-text-15"/>
          <p:cNvSpPr/>
          <p:nvPr/>
        </p:nvSpPr>
        <p:spPr>
          <a:xfrm>
            <a:off x="11455400" y="6921500"/>
            <a:ext cx="355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fr-CA" altLang="en-US" sz="170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 :</a:t>
            </a:r>
            <a:r>
              <a:rPr lang="fr-CA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déposer. </a:t>
            </a:r>
            <a:r>
              <a:rPr lang="fr-CA" altLang="en-US" sz="17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:</a:t>
            </a:r>
            <a:r>
              <a:rPr lang="fr-CA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prendre.</a:t>
            </a:r>
            <a:endParaRPr lang="en-US" sz="1700" dirty="0"/>
          </a:p>
        </p:txBody>
      </p:sp>
      <p:sp>
        <p:nvSpPr>
          <p:cNvPr id="17" name="sheet_map-text-16"/>
          <p:cNvSpPr/>
          <p:nvPr/>
        </p:nvSpPr>
        <p:spPr>
          <a:xfrm>
            <a:off x="762000" y="8661400"/>
            <a:ext cx="142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: 270,00 $ CA comptés • 20,00 $ CA à déposer au coffre-fort</a:t>
            </a:r>
            <a:endParaRPr lang="en-US" sz="1400" dirty="0"/>
          </a:p>
        </p:txBody>
      </p:sp>
      <p:sp>
        <p:nvSpPr>
          <p:cNvPr id="18" name="sheet_map-text-17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nt_steps-text-1"/>
          <p:cNvSpPr/>
          <p:nvPr/>
        </p:nvSpPr>
        <p:spPr>
          <a:xfrm>
            <a:off x="762000" y="6858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4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Étape 1 — Compter et saisir</a:t>
            </a:r>
            <a:endParaRPr lang="en-US" sz="4000" dirty="0"/>
          </a:p>
        </p:txBody>
      </p:sp>
      <p:sp>
        <p:nvSpPr>
          <p:cNvPr id="3" name="count_steps-text-2"/>
          <p:cNvSpPr/>
          <p:nvPr/>
        </p:nvSpPr>
        <p:spPr>
          <a:xfrm>
            <a:off x="762000" y="1549400"/>
            <a:ext cx="1193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gestes simples : compter, inscrire, vérifier.</a:t>
            </a:r>
            <a:endParaRPr lang="en-US" sz="2300" dirty="0"/>
          </a:p>
        </p:txBody>
      </p:sp>
      <p:sp>
        <p:nvSpPr>
          <p:cNvPr id="4" name="count_steps-text-3"/>
          <p:cNvSpPr/>
          <p:nvPr/>
        </p:nvSpPr>
        <p:spPr>
          <a:xfrm>
            <a:off x="762000" y="24130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7600" dirty="0">
                <a:solidFill>
                  <a:srgbClr val="E6F0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7600" dirty="0"/>
          </a:p>
        </p:txBody>
      </p:sp>
      <p:sp>
        <p:nvSpPr>
          <p:cNvPr id="5" name="count_steps-shape-4"/>
          <p:cNvSpPr/>
          <p:nvPr/>
        </p:nvSpPr>
        <p:spPr>
          <a:xfrm>
            <a:off x="762000" y="3733800"/>
            <a:ext cx="4445000" cy="3238500"/>
          </a:xfrm>
          <a:prstGeom prst="roundRect">
            <a:avLst>
              <a:gd name="adj" fmla="val 7059"/>
            </a:avLst>
          </a:prstGeom>
          <a:solidFill>
            <a:srgbClr val="E6F0FA"/>
          </a:solidFill>
          <a:ln/>
        </p:spPr>
      </p:sp>
      <p:pic>
        <p:nvPicPr>
          <p:cNvPr id="6" name="count_steps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4140200"/>
            <a:ext cx="609600" cy="609600"/>
          </a:xfrm>
          <a:prstGeom prst="rect">
            <a:avLst/>
          </a:prstGeom>
        </p:spPr>
      </p:pic>
      <p:sp>
        <p:nvSpPr>
          <p:cNvPr id="7" name="count_steps-text-6"/>
          <p:cNvSpPr/>
          <p:nvPr/>
        </p:nvSpPr>
        <p:spPr>
          <a:xfrm>
            <a:off x="1168400" y="50165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7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Comptez</a:t>
            </a:r>
            <a:endParaRPr lang="en-US" sz="2700" dirty="0"/>
          </a:p>
        </p:txBody>
      </p:sp>
      <p:sp>
        <p:nvSpPr>
          <p:cNvPr id="8" name="count_steps-text-7"/>
          <p:cNvSpPr/>
          <p:nvPr/>
        </p:nvSpPr>
        <p:spPr>
          <a:xfrm>
            <a:off x="1168400" y="5664200"/>
            <a:ext cx="33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type de billet ou de pièce à la fois.</a:t>
            </a:r>
            <a:endParaRPr lang="en-US" sz="2100" dirty="0"/>
          </a:p>
        </p:txBody>
      </p:sp>
      <p:sp>
        <p:nvSpPr>
          <p:cNvPr id="9" name="count_steps-shape-8"/>
          <p:cNvSpPr/>
          <p:nvPr/>
        </p:nvSpPr>
        <p:spPr>
          <a:xfrm>
            <a:off x="5905500" y="3733800"/>
            <a:ext cx="4445000" cy="3238500"/>
          </a:xfrm>
          <a:prstGeom prst="roundRect">
            <a:avLst>
              <a:gd name="adj" fmla="val 7059"/>
            </a:avLst>
          </a:prstGeom>
          <a:solidFill>
            <a:srgbClr val="FDE047"/>
          </a:solidFill>
          <a:ln/>
        </p:spPr>
      </p:sp>
      <p:pic>
        <p:nvPicPr>
          <p:cNvPr id="10" name="count_steps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4140200"/>
            <a:ext cx="609600" cy="609600"/>
          </a:xfrm>
          <a:prstGeom prst="rect">
            <a:avLst/>
          </a:prstGeom>
        </p:spPr>
      </p:pic>
      <p:sp>
        <p:nvSpPr>
          <p:cNvPr id="11" name="count_steps-text-10"/>
          <p:cNvSpPr/>
          <p:nvPr/>
        </p:nvSpPr>
        <p:spPr>
          <a:xfrm>
            <a:off x="6311900" y="50165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7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Inscrivez</a:t>
            </a:r>
            <a:endParaRPr lang="en-US" sz="2700" dirty="0"/>
          </a:p>
        </p:txBody>
      </p:sp>
      <p:sp>
        <p:nvSpPr>
          <p:cNvPr id="12" name="count_steps-text-11"/>
          <p:cNvSpPr/>
          <p:nvPr/>
        </p:nvSpPr>
        <p:spPr>
          <a:xfrm>
            <a:off x="6311900" y="5664200"/>
            <a:ext cx="3365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fr-CA" altLang="en-US" sz="21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quantité dans la cellule jaune. Indiquez 0 si absent.</a:t>
            </a:r>
            <a:endParaRPr lang="en-US" sz="2100" dirty="0"/>
          </a:p>
        </p:txBody>
      </p:sp>
      <p:sp>
        <p:nvSpPr>
          <p:cNvPr id="13" name="count_steps-shape-12"/>
          <p:cNvSpPr/>
          <p:nvPr/>
        </p:nvSpPr>
        <p:spPr>
          <a:xfrm>
            <a:off x="11049000" y="3733800"/>
            <a:ext cx="4445000" cy="323850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25400">
            <a:solidFill>
              <a:srgbClr val="E6F0FA"/>
            </a:solidFill>
            <a:prstDash val="solid"/>
          </a:ln>
        </p:spPr>
      </p:sp>
      <p:pic>
        <p:nvPicPr>
          <p:cNvPr id="14" name="count_steps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400" y="4140200"/>
            <a:ext cx="609600" cy="609600"/>
          </a:xfrm>
          <a:prstGeom prst="rect">
            <a:avLst/>
          </a:prstGeom>
        </p:spPr>
      </p:pic>
      <p:sp>
        <p:nvSpPr>
          <p:cNvPr id="15" name="count_steps-text-14"/>
          <p:cNvSpPr/>
          <p:nvPr/>
        </p:nvSpPr>
        <p:spPr>
          <a:xfrm>
            <a:off x="11455400" y="50165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7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Vérifiez</a:t>
            </a:r>
            <a:endParaRPr lang="en-US" sz="2700" dirty="0"/>
          </a:p>
        </p:txBody>
      </p:sp>
      <p:sp>
        <p:nvSpPr>
          <p:cNvPr id="16" name="count_steps-text-15"/>
          <p:cNvSpPr/>
          <p:nvPr/>
        </p:nvSpPr>
        <p:spPr>
          <a:xfrm>
            <a:off x="11455400" y="5664200"/>
            <a:ext cx="3365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fr-CA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L’état doit afficher « COMPTE TERMINÉ ».</a:t>
            </a:r>
            <a:endParaRPr lang="en-US" sz="2100" dirty="0"/>
          </a:p>
        </p:txBody>
      </p:sp>
      <p:sp>
        <p:nvSpPr>
          <p:cNvPr id="17" name="count_steps-shape-16"/>
          <p:cNvSpPr/>
          <p:nvPr/>
        </p:nvSpPr>
        <p:spPr>
          <a:xfrm>
            <a:off x="762000" y="7493000"/>
            <a:ext cx="14732000" cy="584200"/>
          </a:xfrm>
          <a:prstGeom prst="roundRect">
            <a:avLst>
              <a:gd name="adj" fmla="val 21739"/>
            </a:avLst>
          </a:prstGeom>
          <a:solidFill>
            <a:srgbClr val="E6F0FA"/>
          </a:solidFill>
          <a:ln/>
        </p:spPr>
      </p:sp>
      <p:sp>
        <p:nvSpPr>
          <p:cNvPr id="18" name="count_steps-text-17"/>
          <p:cNvSpPr/>
          <p:nvPr/>
        </p:nvSpPr>
        <p:spPr>
          <a:xfrm>
            <a:off x="1041400" y="7645400"/>
            <a:ext cx="140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CA" alt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l’état n’est pas terminé, cherchez la cellule jaune sans quantité et entrez 0 ou le bon nombre.</a:t>
            </a:r>
            <a:endParaRPr lang="en-US" sz="1800" dirty="0"/>
          </a:p>
        </p:txBody>
      </p:sp>
      <p:sp>
        <p:nvSpPr>
          <p:cNvPr id="19" name="count_steps-text-18"/>
          <p:cNvSpPr/>
          <p:nvPr/>
        </p:nvSpPr>
        <p:spPr>
          <a:xfrm>
            <a:off x="762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Fermeture de caisse • Formation rapide</a:t>
            </a:r>
            <a:endParaRPr lang="en-US" sz="1400" dirty="0"/>
          </a:p>
        </p:txBody>
      </p:sp>
      <p:sp>
        <p:nvSpPr>
          <p:cNvPr id="20" name="count_steps-text-19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_steps-text-1"/>
          <p:cNvSpPr/>
          <p:nvPr/>
        </p:nvSpPr>
        <p:spPr>
          <a:xfrm>
            <a:off x="762000" y="6858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4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Étape 2 — Faire l’ajustement</a:t>
            </a:r>
            <a:endParaRPr lang="en-US" sz="4000" dirty="0"/>
          </a:p>
        </p:txBody>
      </p:sp>
      <p:sp>
        <p:nvSpPr>
          <p:cNvPr id="3" name="action_steps-text-2"/>
          <p:cNvSpPr/>
          <p:nvPr/>
        </p:nvSpPr>
        <p:spPr>
          <a:xfrm>
            <a:off x="762000" y="1549400"/>
            <a:ext cx="1244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Lisez le montant coloré, puis faites une seule action claire.</a:t>
            </a:r>
            <a:endParaRPr lang="en-US" sz="2300" dirty="0"/>
          </a:p>
        </p:txBody>
      </p:sp>
      <p:sp>
        <p:nvSpPr>
          <p:cNvPr id="4" name="action_steps-text-3"/>
          <p:cNvSpPr/>
          <p:nvPr/>
        </p:nvSpPr>
        <p:spPr>
          <a:xfrm>
            <a:off x="762000" y="24130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7600" dirty="0">
                <a:solidFill>
                  <a:srgbClr val="E6F0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7600" dirty="0"/>
          </a:p>
        </p:txBody>
      </p:sp>
      <p:sp>
        <p:nvSpPr>
          <p:cNvPr id="5" name="action_steps-shape-4"/>
          <p:cNvSpPr/>
          <p:nvPr/>
        </p:nvSpPr>
        <p:spPr>
          <a:xfrm>
            <a:off x="762000" y="3632200"/>
            <a:ext cx="6540500" cy="34290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38100">
            <a:solidFill>
              <a:srgbClr val="16A34A"/>
            </a:solidFill>
            <a:prstDash val="solid"/>
          </a:ln>
        </p:spPr>
      </p:sp>
      <p:pic>
        <p:nvPicPr>
          <p:cNvPr id="6" name="action_steps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4089400"/>
            <a:ext cx="660400" cy="660400"/>
          </a:xfrm>
          <a:prstGeom prst="rect">
            <a:avLst/>
          </a:prstGeom>
        </p:spPr>
      </p:pic>
      <p:sp>
        <p:nvSpPr>
          <p:cNvPr id="7" name="action_steps-text-6"/>
          <p:cNvSpPr/>
          <p:nvPr/>
        </p:nvSpPr>
        <p:spPr>
          <a:xfrm>
            <a:off x="2209800" y="4051300"/>
            <a:ext cx="425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700" dirty="0">
                <a:solidFill>
                  <a:srgbClr val="16A3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VERT — Déposer</a:t>
            </a:r>
            <a:endParaRPr lang="en-US" sz="2700" dirty="0"/>
          </a:p>
        </p:txBody>
      </p:sp>
      <p:sp>
        <p:nvSpPr>
          <p:cNvPr id="8" name="action_steps-text-7"/>
          <p:cNvSpPr/>
          <p:nvPr/>
        </p:nvSpPr>
        <p:spPr>
          <a:xfrm>
            <a:off x="1193800" y="5003800"/>
            <a:ext cx="546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fr-CA" altLang="en-US" sz="2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Retirez de la caisse le montant vert et déposez-le au coffre-fort selon la procédure du magasin.</a:t>
            </a:r>
            <a:endParaRPr lang="en-US" sz="2200" dirty="0"/>
          </a:p>
        </p:txBody>
      </p:sp>
      <p:sp>
        <p:nvSpPr>
          <p:cNvPr id="9" name="action_steps-shape-8"/>
          <p:cNvSpPr/>
          <p:nvPr/>
        </p:nvSpPr>
        <p:spPr>
          <a:xfrm>
            <a:off x="7581900" y="4635500"/>
            <a:ext cx="1092200" cy="1092200"/>
          </a:xfrm>
          <a:prstGeom prst="ellipse">
            <a:avLst/>
          </a:prstGeom>
          <a:solidFill>
            <a:srgbClr val="E6F0FA"/>
          </a:solidFill>
          <a:ln/>
        </p:spPr>
      </p:sp>
      <p:sp>
        <p:nvSpPr>
          <p:cNvPr id="10" name="action_steps-text-9"/>
          <p:cNvSpPr/>
          <p:nvPr/>
        </p:nvSpPr>
        <p:spPr>
          <a:xfrm>
            <a:off x="7581900" y="4927600"/>
            <a:ext cx="1092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CA" altLang="en-US" sz="26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</a:t>
            </a:r>
            <a:endParaRPr lang="en-US" sz="2600" dirty="0"/>
          </a:p>
        </p:txBody>
      </p:sp>
      <p:sp>
        <p:nvSpPr>
          <p:cNvPr id="11" name="action_steps-shape-10"/>
          <p:cNvSpPr/>
          <p:nvPr/>
        </p:nvSpPr>
        <p:spPr>
          <a:xfrm>
            <a:off x="8953500" y="3632200"/>
            <a:ext cx="6540500" cy="34290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38100">
            <a:solidFill>
              <a:srgbClr val="F97316"/>
            </a:solidFill>
            <a:prstDash val="solid"/>
          </a:ln>
        </p:spPr>
      </p:sp>
      <p:pic>
        <p:nvPicPr>
          <p:cNvPr id="12" name="action_steps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300" y="4089400"/>
            <a:ext cx="660400" cy="660400"/>
          </a:xfrm>
          <a:prstGeom prst="rect">
            <a:avLst/>
          </a:prstGeom>
        </p:spPr>
      </p:pic>
      <p:sp>
        <p:nvSpPr>
          <p:cNvPr id="13" name="action_steps-text-12"/>
          <p:cNvSpPr/>
          <p:nvPr/>
        </p:nvSpPr>
        <p:spPr>
          <a:xfrm>
            <a:off x="10401300" y="4051300"/>
            <a:ext cx="425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700" dirty="0">
                <a:solidFill>
                  <a:srgbClr val="F9731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ORANGE — Prendre</a:t>
            </a:r>
            <a:endParaRPr lang="en-US" sz="2700" dirty="0"/>
          </a:p>
        </p:txBody>
      </p:sp>
      <p:sp>
        <p:nvSpPr>
          <p:cNvPr id="14" name="action_steps-text-13"/>
          <p:cNvSpPr/>
          <p:nvPr/>
        </p:nvSpPr>
        <p:spPr>
          <a:xfrm>
            <a:off x="9385300" y="5003800"/>
            <a:ext cx="546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fr-CA" altLang="en-US" sz="2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Ajoutez à la caisse le montant orange pris au coffre-fort pour revenir au fond de caisse.</a:t>
            </a:r>
            <a:endParaRPr lang="en-US" sz="2200" dirty="0"/>
          </a:p>
        </p:txBody>
      </p:sp>
      <p:sp>
        <p:nvSpPr>
          <p:cNvPr id="15" name="action_steps-shape-14"/>
          <p:cNvSpPr/>
          <p:nvPr/>
        </p:nvSpPr>
        <p:spPr>
          <a:xfrm>
            <a:off x="2286000" y="7543800"/>
            <a:ext cx="11684000" cy="558800"/>
          </a:xfrm>
          <a:prstGeom prst="round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16" name="action_steps-text-15"/>
          <p:cNvSpPr/>
          <p:nvPr/>
        </p:nvSpPr>
        <p:spPr>
          <a:xfrm>
            <a:off x="2641600" y="76835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CA" alt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la fin, le « Total final dans la caisse » doit correspondre au fond de caisse affiché.</a:t>
            </a:r>
            <a:endParaRPr lang="en-US" sz="1800" dirty="0"/>
          </a:p>
        </p:txBody>
      </p:sp>
      <p:sp>
        <p:nvSpPr>
          <p:cNvPr id="17" name="action_steps-text-16"/>
          <p:cNvSpPr/>
          <p:nvPr/>
        </p:nvSpPr>
        <p:spPr>
          <a:xfrm>
            <a:off x="762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Fermeture de caisse • Formation rapide</a:t>
            </a:r>
            <a:endParaRPr lang="en-US" sz="1400" dirty="0"/>
          </a:p>
        </p:txBody>
      </p:sp>
      <p:sp>
        <p:nvSpPr>
          <p:cNvPr id="18" name="action_steps-text-17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ed_example-text-1"/>
          <p:cNvSpPr/>
          <p:nvPr/>
        </p:nvSpPr>
        <p:spPr>
          <a:xfrm>
            <a:off x="762000" y="609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4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Exemple : 270,00 $ CA en caisse</a:t>
            </a:r>
            <a:endParaRPr lang="en-US" sz="4000" dirty="0"/>
          </a:p>
        </p:txBody>
      </p:sp>
      <p:sp>
        <p:nvSpPr>
          <p:cNvPr id="3" name="worked_example-text-2"/>
          <p:cNvSpPr/>
          <p:nvPr/>
        </p:nvSpPr>
        <p:spPr>
          <a:xfrm>
            <a:off x="762000" y="1397000"/>
            <a:ext cx="1028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2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feuille fait le calcul. Il suffit ensuite de suivre le résultat vert.</a:t>
            </a:r>
            <a:endParaRPr lang="en-US" sz="2200" dirty="0"/>
          </a:p>
        </p:txBody>
      </p:sp>
      <p:pic>
        <p:nvPicPr>
          <p:cNvPr id="4" name="worked-sheet" descr="preencoded.png">    </p:cNvPr>
          <p:cNvPicPr>
            <a:picLocks noChangeAspect="1"/>
          </p:cNvPicPr>
          <p:nvPr/>
        </p:nvPicPr>
        <p:blipFill>
          <a:blip r:embed="rId1"/>
          <a:srcRect l="-5303" r="-5303" t="0" b="0"/>
          <a:stretch/>
        </p:blipFill>
        <p:spPr>
          <a:xfrm>
            <a:off x="698500" y="1930400"/>
            <a:ext cx="9271000" cy="6477000"/>
          </a:xfrm>
          <a:prstGeom prst="roundRect">
            <a:avLst>
              <a:gd name="adj" fmla="val 2353"/>
            </a:avLst>
          </a:prstGeom>
          <a:ln w="25400">
            <a:solidFill>
              <a:srgbClr val="E6F0FA"/>
            </a:solidFill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worked_example-text-4"/>
          <p:cNvSpPr/>
          <p:nvPr/>
        </p:nvSpPr>
        <p:spPr>
          <a:xfrm>
            <a:off x="10604500" y="2108200"/>
            <a:ext cx="101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5400" dirty="0">
                <a:solidFill>
                  <a:srgbClr val="E6F0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5400" dirty="0"/>
          </a:p>
        </p:txBody>
      </p:sp>
      <p:sp>
        <p:nvSpPr>
          <p:cNvPr id="6" name="worked_example-shape-5"/>
          <p:cNvSpPr/>
          <p:nvPr/>
        </p:nvSpPr>
        <p:spPr>
          <a:xfrm>
            <a:off x="10604500" y="3175000"/>
            <a:ext cx="4318000" cy="1193800"/>
          </a:xfrm>
          <a:prstGeom prst="roundRect">
            <a:avLst>
              <a:gd name="adj" fmla="val 14894"/>
            </a:avLst>
          </a:prstGeom>
          <a:solidFill>
            <a:srgbClr val="E6F0FA"/>
          </a:solidFill>
          <a:ln/>
        </p:spPr>
      </p:sp>
      <p:sp>
        <p:nvSpPr>
          <p:cNvPr id="7" name="worked_example-text-6"/>
          <p:cNvSpPr/>
          <p:nvPr/>
        </p:nvSpPr>
        <p:spPr>
          <a:xfrm>
            <a:off x="10922000" y="3365500"/>
            <a:ext cx="36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Total compté</a:t>
            </a:r>
            <a:endParaRPr lang="en-US" sz="1800" dirty="0"/>
          </a:p>
        </p:txBody>
      </p:sp>
      <p:sp>
        <p:nvSpPr>
          <p:cNvPr id="8" name="worked_example-text-7"/>
          <p:cNvSpPr/>
          <p:nvPr/>
        </p:nvSpPr>
        <p:spPr>
          <a:xfrm>
            <a:off x="10922000" y="3708400"/>
            <a:ext cx="368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270,00 $ CA</a:t>
            </a:r>
            <a:endParaRPr lang="en-US" sz="3000" dirty="0"/>
          </a:p>
        </p:txBody>
      </p:sp>
      <p:sp>
        <p:nvSpPr>
          <p:cNvPr id="9" name="worked_example-shape-8"/>
          <p:cNvSpPr/>
          <p:nvPr/>
        </p:nvSpPr>
        <p:spPr>
          <a:xfrm>
            <a:off x="12763500" y="4495800"/>
            <a:ext cx="9144" cy="457200"/>
          </a:xfrm>
          <a:prstGeom prst="line">
            <a:avLst/>
          </a:prstGeom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worked_example-shape-9"/>
          <p:cNvSpPr/>
          <p:nvPr/>
        </p:nvSpPr>
        <p:spPr>
          <a:xfrm>
            <a:off x="10604500" y="5130800"/>
            <a:ext cx="4318000" cy="1193800"/>
          </a:xfrm>
          <a:prstGeom prst="roundRect">
            <a:avLst>
              <a:gd name="adj" fmla="val 14894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1" name="worked_example-text-10"/>
          <p:cNvSpPr/>
          <p:nvPr/>
        </p:nvSpPr>
        <p:spPr>
          <a:xfrm>
            <a:off x="10922000" y="5321300"/>
            <a:ext cx="36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80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À déposer au coffre-fort</a:t>
            </a:r>
            <a:endParaRPr lang="en-US" sz="1800" dirty="0"/>
          </a:p>
        </p:txBody>
      </p:sp>
      <p:sp>
        <p:nvSpPr>
          <p:cNvPr id="12" name="worked_example-text-11"/>
          <p:cNvSpPr/>
          <p:nvPr/>
        </p:nvSpPr>
        <p:spPr>
          <a:xfrm>
            <a:off x="10922000" y="5664200"/>
            <a:ext cx="368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000" dirty="0">
                <a:solidFill>
                  <a:srgbClr val="16A3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20,00 $ CA</a:t>
            </a:r>
            <a:endParaRPr lang="en-US" sz="3000" dirty="0"/>
          </a:p>
        </p:txBody>
      </p:sp>
      <p:sp>
        <p:nvSpPr>
          <p:cNvPr id="13" name="worked_example-shape-12"/>
          <p:cNvSpPr/>
          <p:nvPr/>
        </p:nvSpPr>
        <p:spPr>
          <a:xfrm>
            <a:off x="12763500" y="6451600"/>
            <a:ext cx="9144" cy="457200"/>
          </a:xfrm>
          <a:prstGeom prst="line">
            <a:avLst/>
          </a:prstGeom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worked_example-shape-13"/>
          <p:cNvSpPr/>
          <p:nvPr/>
        </p:nvSpPr>
        <p:spPr>
          <a:xfrm>
            <a:off x="10604500" y="7086600"/>
            <a:ext cx="4318000" cy="1193800"/>
          </a:xfrm>
          <a:prstGeom prst="roundRect">
            <a:avLst>
              <a:gd name="adj" fmla="val 14894"/>
            </a:avLst>
          </a:prstGeom>
          <a:solidFill>
            <a:srgbClr val="E6F0FA"/>
          </a:solidFill>
          <a:ln/>
        </p:spPr>
      </p:sp>
      <p:sp>
        <p:nvSpPr>
          <p:cNvPr id="15" name="worked_example-text-14"/>
          <p:cNvSpPr/>
          <p:nvPr/>
        </p:nvSpPr>
        <p:spPr>
          <a:xfrm>
            <a:off x="10922000" y="7277100"/>
            <a:ext cx="36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Total final dans la caisse</a:t>
            </a:r>
            <a:endParaRPr lang="en-US" sz="1800" dirty="0"/>
          </a:p>
        </p:txBody>
      </p:sp>
      <p:sp>
        <p:nvSpPr>
          <p:cNvPr id="16" name="worked_example-text-15"/>
          <p:cNvSpPr/>
          <p:nvPr/>
        </p:nvSpPr>
        <p:spPr>
          <a:xfrm>
            <a:off x="10922000" y="7620000"/>
            <a:ext cx="368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3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250,00 $ CA</a:t>
            </a:r>
            <a:endParaRPr lang="en-US" sz="3000" dirty="0"/>
          </a:p>
        </p:txBody>
      </p:sp>
      <p:sp>
        <p:nvSpPr>
          <p:cNvPr id="17" name="worked_example-text-16"/>
          <p:cNvSpPr/>
          <p:nvPr/>
        </p:nvSpPr>
        <p:spPr>
          <a:xfrm>
            <a:off x="762000" y="8661400"/>
            <a:ext cx="142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feuille sert de calculatrice et de rappel : comptez, regardez la couleur, faites l’action indiquée.</a:t>
            </a:r>
            <a:endParaRPr lang="en-US" sz="1400" dirty="0"/>
          </a:p>
        </p:txBody>
      </p:sp>
      <p:sp>
        <p:nvSpPr>
          <p:cNvPr id="18" name="worked_example-text-17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cklist-text-1"/>
          <p:cNvSpPr/>
          <p:nvPr/>
        </p:nvSpPr>
        <p:spPr>
          <a:xfrm>
            <a:off x="762000" y="685800"/>
            <a:ext cx="13335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4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Vérification finale</a:t>
            </a:r>
            <a:endParaRPr lang="en-US" sz="4000" dirty="0"/>
          </a:p>
        </p:txBody>
      </p:sp>
      <p:sp>
        <p:nvSpPr>
          <p:cNvPr id="3" name="checklist-shape-2"/>
          <p:cNvSpPr/>
          <p:nvPr/>
        </p:nvSpPr>
        <p:spPr>
          <a:xfrm>
            <a:off x="1524000" y="1879600"/>
            <a:ext cx="13208000" cy="5486400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checklist-text-3"/>
          <p:cNvSpPr/>
          <p:nvPr/>
        </p:nvSpPr>
        <p:spPr>
          <a:xfrm>
            <a:off x="2159000" y="23622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3000" dirty="0">
                <a:solidFill>
                  <a:srgbClr val="0A19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Avant de terminer, vérifiez ces 4 points</a:t>
            </a:r>
            <a:endParaRPr lang="en-US" sz="3000" dirty="0"/>
          </a:p>
        </p:txBody>
      </p:sp>
      <p:sp>
        <p:nvSpPr>
          <p:cNvPr id="5" name="checklist-shape-4"/>
          <p:cNvSpPr/>
          <p:nvPr/>
        </p:nvSpPr>
        <p:spPr>
          <a:xfrm>
            <a:off x="2159000" y="3302000"/>
            <a:ext cx="5334000" cy="1346200"/>
          </a:xfrm>
          <a:prstGeom prst="roundRect">
            <a:avLst>
              <a:gd name="adj" fmla="val 13208"/>
            </a:avLst>
          </a:prstGeom>
          <a:solidFill>
            <a:srgbClr val="E6F0FA"/>
          </a:solidFill>
          <a:ln/>
        </p:spPr>
      </p:sp>
      <p:pic>
        <p:nvPicPr>
          <p:cNvPr id="6" name="checklist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800" y="3619500"/>
            <a:ext cx="482600" cy="482600"/>
          </a:xfrm>
          <a:prstGeom prst="rect">
            <a:avLst/>
          </a:prstGeom>
        </p:spPr>
      </p:pic>
      <p:sp>
        <p:nvSpPr>
          <p:cNvPr id="7" name="checklist-text-6"/>
          <p:cNvSpPr/>
          <p:nvPr/>
        </p:nvSpPr>
        <p:spPr>
          <a:xfrm>
            <a:off x="3175000" y="3517900"/>
            <a:ext cx="381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Toutes les quantités sont inscrites, y compris les 0.</a:t>
            </a:r>
            <a:endParaRPr lang="en-US" sz="2000" dirty="0"/>
          </a:p>
        </p:txBody>
      </p:sp>
      <p:sp>
        <p:nvSpPr>
          <p:cNvPr id="8" name="checklist-shape-7"/>
          <p:cNvSpPr/>
          <p:nvPr/>
        </p:nvSpPr>
        <p:spPr>
          <a:xfrm>
            <a:off x="8763000" y="3302000"/>
            <a:ext cx="5334000" cy="1346200"/>
          </a:xfrm>
          <a:prstGeom prst="roundRect">
            <a:avLst>
              <a:gd name="adj" fmla="val 13208"/>
            </a:avLst>
          </a:prstGeom>
          <a:solidFill>
            <a:srgbClr val="E6F0FA"/>
          </a:solidFill>
          <a:ln/>
        </p:spPr>
      </p:sp>
      <p:pic>
        <p:nvPicPr>
          <p:cNvPr id="9" name="checklist-icon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3619500"/>
            <a:ext cx="482600" cy="482600"/>
          </a:xfrm>
          <a:prstGeom prst="rect">
            <a:avLst/>
          </a:prstGeom>
        </p:spPr>
      </p:pic>
      <p:sp>
        <p:nvSpPr>
          <p:cNvPr id="10" name="checklist-text-9"/>
          <p:cNvSpPr/>
          <p:nvPr/>
        </p:nvSpPr>
        <p:spPr>
          <a:xfrm>
            <a:off x="9779000" y="3517900"/>
            <a:ext cx="381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L’état indique « COMPTE TERMINÉ ».</a:t>
            </a:r>
            <a:endParaRPr lang="en-US" sz="2000" dirty="0"/>
          </a:p>
        </p:txBody>
      </p:sp>
      <p:sp>
        <p:nvSpPr>
          <p:cNvPr id="11" name="checklist-shape-10"/>
          <p:cNvSpPr/>
          <p:nvPr/>
        </p:nvSpPr>
        <p:spPr>
          <a:xfrm>
            <a:off x="2159000" y="4953000"/>
            <a:ext cx="5334000" cy="1346200"/>
          </a:xfrm>
          <a:prstGeom prst="roundRect">
            <a:avLst>
              <a:gd name="adj" fmla="val 13208"/>
            </a:avLst>
          </a:prstGeom>
          <a:solidFill>
            <a:srgbClr val="F0FDF4"/>
          </a:solidFill>
          <a:ln/>
        </p:spPr>
      </p:sp>
      <p:pic>
        <p:nvPicPr>
          <p:cNvPr id="12" name="checklist-icon-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5270500"/>
            <a:ext cx="482600" cy="482600"/>
          </a:xfrm>
          <a:prstGeom prst="rect">
            <a:avLst/>
          </a:prstGeom>
        </p:spPr>
      </p:pic>
      <p:sp>
        <p:nvSpPr>
          <p:cNvPr id="13" name="checklist-text-12"/>
          <p:cNvSpPr/>
          <p:nvPr/>
        </p:nvSpPr>
        <p:spPr>
          <a:xfrm>
            <a:off x="3175000" y="5168900"/>
            <a:ext cx="381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montant vert ou orange a été traité.</a:t>
            </a:r>
            <a:endParaRPr lang="en-US" sz="2000" dirty="0"/>
          </a:p>
        </p:txBody>
      </p:sp>
      <p:sp>
        <p:nvSpPr>
          <p:cNvPr id="14" name="checklist-shape-13"/>
          <p:cNvSpPr/>
          <p:nvPr/>
        </p:nvSpPr>
        <p:spPr>
          <a:xfrm>
            <a:off x="8763000" y="4953000"/>
            <a:ext cx="5334000" cy="1346200"/>
          </a:xfrm>
          <a:prstGeom prst="roundRect">
            <a:avLst>
              <a:gd name="adj" fmla="val 13208"/>
            </a:avLst>
          </a:prstGeom>
          <a:solidFill>
            <a:srgbClr val="F8FAFC"/>
          </a:solidFill>
          <a:ln/>
        </p:spPr>
      </p:sp>
      <p:pic>
        <p:nvPicPr>
          <p:cNvPr id="15" name="checklist-icon-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5270500"/>
            <a:ext cx="482600" cy="482600"/>
          </a:xfrm>
          <a:prstGeom prst="rect">
            <a:avLst/>
          </a:prstGeom>
        </p:spPr>
      </p:pic>
      <p:sp>
        <p:nvSpPr>
          <p:cNvPr id="16" name="checklist-text-15"/>
          <p:cNvSpPr/>
          <p:nvPr/>
        </p:nvSpPr>
        <p:spPr>
          <a:xfrm>
            <a:off x="9779000" y="5168900"/>
            <a:ext cx="381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fr-CA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procédure du magasin a été suivie.</a:t>
            </a:r>
            <a:endParaRPr lang="en-US" sz="2000" dirty="0"/>
          </a:p>
        </p:txBody>
      </p:sp>
      <p:sp>
        <p:nvSpPr>
          <p:cNvPr id="17" name="checklist-text-16"/>
          <p:cNvSpPr/>
          <p:nvPr/>
        </p:nvSpPr>
        <p:spPr>
          <a:xfrm>
            <a:off x="2159000" y="6667500"/>
            <a:ext cx="1143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CA" alt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Faites une première fermeture avec un gérant, puis posez une question si un résultat ne vous semble pas clair.</a:t>
            </a:r>
            <a:endParaRPr lang="en-US" sz="1800" dirty="0"/>
          </a:p>
        </p:txBody>
      </p:sp>
      <p:sp>
        <p:nvSpPr>
          <p:cNvPr id="18" name="checklist-text-17"/>
          <p:cNvSpPr/>
          <p:nvPr/>
        </p:nvSpPr>
        <p:spPr>
          <a:xfrm>
            <a:off x="762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CA" altLang="en-US" sz="1400" dirty="0">
                <a:solidFill>
                  <a:srgbClr val="E6F0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Fermeture de caisse • Formation rapide</a:t>
            </a:r>
            <a:endParaRPr lang="en-US" sz="1400" dirty="0"/>
          </a:p>
        </p:txBody>
      </p:sp>
      <p:sp>
        <p:nvSpPr>
          <p:cNvPr id="19" name="checklist-text-18"/>
          <p:cNvSpPr/>
          <p:nvPr/>
        </p:nvSpPr>
        <p:spPr>
          <a:xfrm>
            <a:off x="14859000" y="84074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CA" altLang="en-US" sz="1400" dirty="0">
                <a:solidFill>
                  <a:srgbClr val="E6F0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Fermeture de caisse simple — formation employés</dc:title>
  <dc:subject>Fermeture de caisse simple — formation employés</dc:subject>
  <dc:creator>Manus</dc:creator>
  <cp:lastModifiedBy>Manus</cp:lastModifiedBy>
  <cp:revision>1</cp:revision>
  <dcterms:created xsi:type="dcterms:W3CDTF">2026-10-23T00:38:09Z</dcterms:created>
  <dcterms:modified xsi:type="dcterms:W3CDTF">2026-10-23T00:38:09Z</dcterms:modified>
  <dc:language>fr-CA</dc:language>
</cp:coreProperties>
</file>